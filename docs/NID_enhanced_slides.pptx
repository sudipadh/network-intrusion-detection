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A4A"/>
                </a:solidFill>
                <a:latin typeface="Calibri"/>
              </a:defRPr>
            </a:pPr>
            <a:r>
              <a:t>Dataset Deep Dive — The 41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2057400" cy="33832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2011680" cy="39319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2011680" cy="36576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98A"/>
                </a:solidFill>
                <a:latin typeface="Calibri"/>
              </a:defRPr>
            </a:pPr>
            <a:r>
              <a:t>Basic Features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Features 1 —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Direct TCP/IP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8288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898A"/>
                </a:solidFill>
                <a:latin typeface="Consolas"/>
              </a:rPr>
              <a:t>duration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Connection length in seconds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898A"/>
                </a:solidFill>
                <a:latin typeface="Consolas"/>
              </a:rPr>
              <a:t>protocol_type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TCP, UDP, or ICMP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898A"/>
                </a:solidFill>
                <a:latin typeface="Consolas"/>
              </a:rPr>
              <a:t>service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HTTP, FTP, SMTP, etc. (70 types)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898A"/>
                </a:solidFill>
                <a:latin typeface="Consolas"/>
              </a:rPr>
              <a:t>flag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Connection status (SF, REJ, S0...)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898A"/>
                </a:solidFill>
                <a:latin typeface="Consolas"/>
              </a:rPr>
              <a:t>src_bytes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Bytes sent by source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898A"/>
                </a:solidFill>
                <a:latin typeface="Consolas"/>
              </a:rPr>
              <a:t>dst_bytes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Bytes received by destination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960120"/>
            <a:ext cx="2011680" cy="39319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960120"/>
            <a:ext cx="2011680" cy="36576"/>
          </a:xfrm>
          <a:prstGeom prst="rect">
            <a:avLst/>
          </a:prstGeom>
          <a:solidFill>
            <a:srgbClr val="E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6352"/>
                </a:solidFill>
                <a:latin typeface="Calibri"/>
              </a:defRPr>
            </a:pPr>
            <a:r>
              <a:t>Content Features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Features 10 —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Payload &amp; access 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645920"/>
            <a:ext cx="18288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86352"/>
                </a:solidFill>
                <a:latin typeface="Consolas"/>
              </a:rPr>
              <a:t>num_failed_logins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Failed login attempts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86352"/>
                </a:solidFill>
                <a:latin typeface="Consolas"/>
              </a:rPr>
              <a:t>logged_in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Successfully logged in (1/0)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86352"/>
                </a:solidFill>
                <a:latin typeface="Consolas"/>
              </a:rPr>
              <a:t>root_shell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Root shell obtained (1/0)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86352"/>
                </a:solidFill>
                <a:latin typeface="Consolas"/>
              </a:rPr>
              <a:t>num_file_creations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File creation operations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86352"/>
                </a:solidFill>
                <a:latin typeface="Consolas"/>
              </a:rPr>
              <a:t>num_access_files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Sensitive file accesses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86352"/>
                </a:solidFill>
                <a:latin typeface="Consolas"/>
              </a:rPr>
              <a:t>is_guest_login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Guest login detected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960120"/>
            <a:ext cx="2011680" cy="393192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E09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960120"/>
            <a:ext cx="2011680" cy="36576"/>
          </a:xfrm>
          <a:prstGeom prst="rect">
            <a:avLst/>
          </a:prstGeom>
          <a:solidFill>
            <a:srgbClr val="E09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9F1F"/>
                </a:solidFill>
                <a:latin typeface="Calibri"/>
              </a:defRPr>
            </a:pPr>
            <a:r>
              <a:t>Time-based Traffic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Features 23 — 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2-second window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645920"/>
            <a:ext cx="18288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09F1F"/>
                </a:solidFill>
                <a:latin typeface="Consolas"/>
              </a:rPr>
              <a:t>count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Connections to same host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09F1F"/>
                </a:solidFill>
                <a:latin typeface="Consolas"/>
              </a:rPr>
              <a:t>srv_count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Same-service connections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09F1F"/>
                </a:solidFill>
                <a:latin typeface="Consolas"/>
              </a:rPr>
              <a:t>serror_rate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% connections with SYN errors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09F1F"/>
                </a:solidFill>
                <a:latin typeface="Consolas"/>
              </a:rPr>
              <a:t>rerror_rate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% connections with REJ errors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09F1F"/>
                </a:solidFill>
                <a:latin typeface="Consolas"/>
              </a:rPr>
              <a:t>same_srv_rate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% to same service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E09F1F"/>
                </a:solidFill>
                <a:latin typeface="Consolas"/>
              </a:rPr>
              <a:t>diff_srv_rate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% to different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960120"/>
            <a:ext cx="2011680" cy="3931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960120"/>
            <a:ext cx="2011680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A4A"/>
                </a:solidFill>
                <a:latin typeface="Calibri"/>
              </a:defRPr>
            </a:pPr>
            <a:r>
              <a:t>Host-based Traffic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Features 32 — 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Last 100 connections 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645920"/>
            <a:ext cx="18288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A2A4A"/>
                </a:solidFill>
                <a:latin typeface="Consolas"/>
              </a:rPr>
              <a:t>dst_host_count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Connections to same dest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A2A4A"/>
                </a:solidFill>
                <a:latin typeface="Consolas"/>
              </a:rPr>
              <a:t>dst_host_srv_count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Same-service to dest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A2A4A"/>
                </a:solidFill>
                <a:latin typeface="Consolas"/>
              </a:rPr>
              <a:t>dst_host_same_srv_rate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% same service to host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A2A4A"/>
                </a:solidFill>
                <a:latin typeface="Consolas"/>
              </a:rPr>
              <a:t>dst_host_serror_rate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% SYN errors to host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A2A4A"/>
                </a:solidFill>
                <a:latin typeface="Consolas"/>
              </a:rPr>
              <a:t>dst_host_srv_serror_rate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% SYN errors to service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1A2A4A"/>
                </a:solidFill>
                <a:latin typeface="Consolas"/>
              </a:rPr>
              <a:t>dst_host_rerror_rate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64748B"/>
                </a:solidFill>
                <a:latin typeface="Calibri"/>
              </a:rPr>
              <a:t>% REJ errors to host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3 categorical features (protocol_type, service, flag) need encoding  |  38 numerical features need scaling  |  Last column = difficulty score (dropped)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A4A"/>
                </a:solidFill>
                <a:latin typeface="Calibri"/>
              </a:defRPr>
            </a:pPr>
            <a:r>
              <a:t>Understanding the 5 Traffic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2057400" cy="33832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8321040" cy="71323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54864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53.46%  (67,343)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960120"/>
            <a:ext cx="7040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Legitimate network traffic. Regular HTTP requests, file transfers, emails — nothing suspicious.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457200" cy="137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8321040" cy="71323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691640"/>
            <a:ext cx="54864" cy="713232"/>
          </a:xfrm>
          <a:prstGeom prst="rect">
            <a:avLst/>
          </a:prstGeom>
          <a:solidFill>
            <a:srgbClr val="E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6479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352"/>
                </a:solidFill>
                <a:latin typeface="Calibri"/>
              </a:defRPr>
            </a:pPr>
            <a:r>
              <a:t>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57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36.46%  (45,927)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737360"/>
            <a:ext cx="7040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Denial of Service — flood the server with traffic until it crashes. Like 10,000 calls to a restaurant at once. Real users can't get through.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965960"/>
            <a:ext cx="311812" cy="137160"/>
          </a:xfrm>
          <a:prstGeom prst="rect">
            <a:avLst/>
          </a:prstGeom>
          <a:solidFill>
            <a:srgbClr val="E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2468880"/>
            <a:ext cx="8321040" cy="71323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E09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68880"/>
            <a:ext cx="54864" cy="713232"/>
          </a:xfrm>
          <a:prstGeom prst="rect">
            <a:avLst/>
          </a:prstGeom>
          <a:solidFill>
            <a:srgbClr val="E09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4203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9F1F"/>
                </a:solidFill>
                <a:latin typeface="Calibri"/>
              </a:defRPr>
            </a:pPr>
            <a:r>
              <a:t>Probe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9.25%  (11,656)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514600"/>
            <a:ext cx="7040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Reconnaissance scanning — checking which ports are open, what services run. Not attacking yet, but mapping vulnerabilities for later.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743200"/>
            <a:ext cx="79107" cy="137160"/>
          </a:xfrm>
          <a:prstGeom prst="rect">
            <a:avLst/>
          </a:prstGeom>
          <a:solidFill>
            <a:srgbClr val="E09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3246120"/>
            <a:ext cx="8321040" cy="713232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246120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1927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R2L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611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0.79%  (995)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91840"/>
            <a:ext cx="7040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Remote to Local — attacker is outside trying to get in. Password guessing, exploiting FTP, trying to gain unauthorized access.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520440"/>
            <a:ext cx="36576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" y="4023360"/>
            <a:ext cx="8321040" cy="71323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023360"/>
            <a:ext cx="54864" cy="7132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09651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4A"/>
                </a:solidFill>
                <a:latin typeface="Calibri"/>
              </a:defRPr>
            </a:pPr>
            <a:r>
              <a:t>U2R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389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0.04%  (52)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069080"/>
            <a:ext cx="7040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User to Root — already inside with basic access, trying to become admin. Buffer overflow exploits, rootkits, privilege escalation.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297680"/>
            <a:ext cx="36576" cy="1371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1480" y="4892040"/>
            <a:ext cx="8321040" cy="3657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919472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86352"/>
                </a:solidFill>
                <a:latin typeface="Calibri"/>
              </a:rPr>
              <a:t>Key Insight: </a:t>
            </a:r>
            <a:r>
              <a:rPr sz="900" b="0">
                <a:solidFill>
                  <a:srgbClr val="475569"/>
                </a:solidFill>
                <a:latin typeface="Calibri"/>
              </a:rPr>
              <a:t>R2L + U2R together = less than 1% of data, but these are the most dangerous attacks (unauthorized access + privilege escalation). Detecting them is the real challenge.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A4A"/>
                </a:solidFill>
                <a:latin typeface="Calibri"/>
              </a:defRPr>
            </a:pPr>
            <a:r>
              <a:t>Data 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2057400" cy="33832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51760" cy="16002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8" y="1005840"/>
            <a:ext cx="292608" cy="292608"/>
          </a:xfrm>
          <a:prstGeom prst="ellipse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058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05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A4A"/>
                </a:solidFill>
                <a:latin typeface="Calibri"/>
              </a:defRPr>
            </a:pPr>
            <a:r>
              <a:t>Load &amp; 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898A"/>
                </a:solidFill>
                <a:latin typeface="Calibri"/>
              </a:rPr>
              <a:t>Load: </a:t>
            </a:r>
            <a:r>
              <a:rPr sz="900" b="0">
                <a:solidFill>
                  <a:srgbClr val="475569"/>
                </a:solidFill>
                <a:latin typeface="Calibri"/>
              </a:rPr>
              <a:t>KDDTrain+.txt (125,973 rows)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898A"/>
                </a:solidFill>
                <a:latin typeface="Calibri"/>
              </a:rPr>
              <a:t>Assign: </a:t>
            </a:r>
            <a:r>
              <a:rPr sz="900" b="0">
                <a:solidFill>
                  <a:srgbClr val="475569"/>
                </a:solidFill>
                <a:latin typeface="Calibri"/>
              </a:rPr>
              <a:t>41 column names + label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898A"/>
                </a:solidFill>
                <a:latin typeface="Calibri"/>
              </a:rPr>
              <a:t>Drop: </a:t>
            </a:r>
            <a:r>
              <a:rPr sz="900" b="0">
                <a:solidFill>
                  <a:srgbClr val="475569"/>
                </a:solidFill>
                <a:latin typeface="Calibri"/>
              </a:rPr>
              <a:t>difficulty score (last col)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00898A"/>
                </a:solidFill>
                <a:latin typeface="Calibri"/>
              </a:rPr>
              <a:t>Map: </a:t>
            </a:r>
            <a:r>
              <a:rPr sz="900" b="0">
                <a:solidFill>
                  <a:srgbClr val="475569"/>
                </a:solidFill>
                <a:latin typeface="Calibri"/>
              </a:rPr>
              <a:t>specific attacks to 5 classes (e.g., neptune, smurf -&gt; DoS)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1554480"/>
            <a:ext cx="292608" cy="228600"/>
          </a:xfrm>
          <a:prstGeom prst="rightArrow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914400"/>
            <a:ext cx="2651760" cy="16002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0168" y="1005840"/>
            <a:ext cx="292608" cy="292608"/>
          </a:xfrm>
          <a:prstGeom prst="ellipse">
            <a:avLst/>
          </a:prstGeom>
          <a:solidFill>
            <a:srgbClr val="E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0058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1005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A4A"/>
                </a:solidFill>
                <a:latin typeface="Calibri"/>
              </a:defRPr>
            </a:pPr>
            <a:r>
              <a:t>Encode Categoricals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132588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E86352"/>
                </a:solidFill>
                <a:latin typeface="Calibri"/>
              </a:rPr>
              <a:t>protocol_type: </a:t>
            </a:r>
            <a:r>
              <a:rPr sz="900" b="0">
                <a:solidFill>
                  <a:srgbClr val="475569"/>
                </a:solidFill>
                <a:latin typeface="Calibri"/>
              </a:rPr>
              <a:t>3 values (TCP, UDP, ICMP)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E86352"/>
                </a:solidFill>
                <a:latin typeface="Calibri"/>
              </a:rPr>
              <a:t>service: </a:t>
            </a:r>
            <a:r>
              <a:rPr sz="900" b="0">
                <a:solidFill>
                  <a:srgbClr val="475569"/>
                </a:solidFill>
                <a:latin typeface="Calibri"/>
              </a:rPr>
              <a:t>70 values (HTTP, FTP...)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E86352"/>
                </a:solidFill>
                <a:latin typeface="Calibri"/>
              </a:rPr>
              <a:t>flag: </a:t>
            </a:r>
            <a:r>
              <a:rPr sz="900" b="0">
                <a:solidFill>
                  <a:srgbClr val="475569"/>
                </a:solidFill>
                <a:latin typeface="Calibri"/>
              </a:rPr>
              <a:t>11 values (SF, REJ, S0...)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E86352"/>
                </a:solidFill>
                <a:latin typeface="Calibri"/>
              </a:rPr>
              <a:t>Method: </a:t>
            </a:r>
            <a:r>
              <a:rPr sz="900" b="0">
                <a:solidFill>
                  <a:srgbClr val="475569"/>
                </a:solidFill>
                <a:latin typeface="Calibri"/>
              </a:rPr>
              <a:t>One-Hot Encoding (no false ordering)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81928" y="1554480"/>
            <a:ext cx="292608" cy="228600"/>
          </a:xfrm>
          <a:prstGeom prst="rightArrow">
            <a:avLst/>
          </a:prstGeom>
          <a:solidFill>
            <a:srgbClr val="E86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914400"/>
            <a:ext cx="2377440" cy="16002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E09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84848" y="1005840"/>
            <a:ext cx="292608" cy="292608"/>
          </a:xfrm>
          <a:prstGeom prst="ellipse">
            <a:avLst/>
          </a:prstGeom>
          <a:solidFill>
            <a:srgbClr val="E09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0058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00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A4A"/>
                </a:solidFill>
                <a:latin typeface="Calibri"/>
              </a:defRPr>
            </a:pPr>
            <a:r>
              <a:t>Normalize /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325880"/>
            <a:ext cx="21579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E09F1F"/>
                </a:solidFill>
                <a:latin typeface="Calibri"/>
              </a:rPr>
              <a:t>Why: </a:t>
            </a:r>
            <a:r>
              <a:rPr sz="900" b="0">
                <a:solidFill>
                  <a:srgbClr val="475569"/>
                </a:solidFill>
                <a:latin typeface="Calibri"/>
              </a:rPr>
              <a:t>Features have different scales (duration: 0-58000 vs failed_logins: 0-5)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E09F1F"/>
                </a:solidFill>
                <a:latin typeface="Calibri"/>
              </a:rPr>
              <a:t>Method: </a:t>
            </a:r>
            <a:r>
              <a:rPr sz="900" b="0">
                <a:solidFill>
                  <a:srgbClr val="475569"/>
                </a:solidFill>
                <a:latin typeface="Calibri"/>
              </a:rPr>
              <a:t>StandardScaler (mean=0, std=1)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E09F1F"/>
                </a:solidFill>
                <a:latin typeface="Calibri"/>
              </a:rPr>
              <a:t>Critical for: </a:t>
            </a:r>
            <a:r>
              <a:rPr sz="900" b="0">
                <a:solidFill>
                  <a:srgbClr val="475569"/>
                </a:solidFill>
                <a:latin typeface="Calibri"/>
              </a:rPr>
              <a:t>KNN &amp; SVM (distance-based)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834640"/>
            <a:ext cx="4206240" cy="21031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" y="292608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9260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A4A"/>
                </a:solidFill>
                <a:latin typeface="Calibri"/>
              </a:defRPr>
            </a:pPr>
            <a:r>
              <a:t>Handle Class Imbalance (SMOTE)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246120"/>
            <a:ext cx="39867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</a:pPr>
            <a:r>
              <a:rPr sz="900" b="1">
                <a:solidFill>
                  <a:srgbClr val="1A2A4A"/>
                </a:solidFill>
                <a:latin typeface="Calibri"/>
              </a:rPr>
              <a:t>Before SMOTE: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475569"/>
                </a:solidFill>
                <a:latin typeface="Consolas"/>
              </a:rPr>
              <a:t>  Normal     67,343  ██████████████████████████████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475569"/>
                </a:solidFill>
                <a:latin typeface="Consolas"/>
              </a:rPr>
              <a:t>  DoS        45,927  ████████████████████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475569"/>
                </a:solidFill>
                <a:latin typeface="Consolas"/>
              </a:rPr>
              <a:t>  Probe      11,656  █████</a:t>
            </a:r>
          </a:p>
          <a:p>
            <a:pPr>
              <a:spcBef>
                <a:spcPts val="100"/>
              </a:spcBef>
            </a:pPr>
            <a:r>
              <a:rPr sz="800" b="1">
                <a:solidFill>
                  <a:srgbClr val="7C3AED"/>
                </a:solidFill>
                <a:latin typeface="Consolas"/>
              </a:rPr>
              <a:t>  R2L           995  █</a:t>
            </a:r>
          </a:p>
          <a:p>
            <a:pPr>
              <a:spcBef>
                <a:spcPts val="100"/>
              </a:spcBef>
            </a:pPr>
            <a:r>
              <a:rPr sz="800" b="1">
                <a:solidFill>
                  <a:srgbClr val="7C3AED"/>
                </a:solidFill>
                <a:latin typeface="Consolas"/>
              </a:rPr>
              <a:t>  U2R            52  █</a:t>
            </a:r>
          </a:p>
          <a:p>
            <a:pPr>
              <a:spcBef>
                <a:spcPts val="500"/>
              </a:spcBef>
            </a:pPr>
            <a:r>
              <a:rPr sz="900" b="0">
                <a:solidFill>
                  <a:srgbClr val="7C3AED"/>
                </a:solidFill>
                <a:latin typeface="Calibri"/>
              </a:rPr>
              <a:t>SMOTE creates synthetic minority samples by interpolating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7C3AED"/>
                </a:solidFill>
                <a:latin typeface="Calibri"/>
              </a:rPr>
              <a:t>between existing samples and their nearest neighbors.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E86352"/>
                </a:solidFill>
                <a:latin typeface="Calibri"/>
              </a:rPr>
              <a:t>Applied ONLY to training folds, never to test data.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663440" y="3703320"/>
            <a:ext cx="292608" cy="2286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74920" y="2834640"/>
            <a:ext cx="3977639" cy="2103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84648" y="2926080"/>
            <a:ext cx="292608" cy="292608"/>
          </a:xfrm>
          <a:prstGeom prst="ellipse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84648" y="29260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2926080"/>
            <a:ext cx="34289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A4A"/>
                </a:solidFill>
                <a:latin typeface="Calibri"/>
              </a:defRPr>
            </a:pPr>
            <a:r>
              <a:t>Train-Test Split &amp; Cross-Validation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3246120"/>
            <a:ext cx="3758183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1A2A4A"/>
                </a:solidFill>
                <a:latin typeface="Calibri"/>
              </a:rPr>
              <a:t>Primary split: </a:t>
            </a:r>
            <a:r>
              <a:rPr sz="900" b="0">
                <a:solidFill>
                  <a:srgbClr val="475569"/>
                </a:solidFill>
                <a:latin typeface="Calibri"/>
              </a:rPr>
              <a:t>KDDTrain+ (125K) vs KDDTest+ (22K) — predefined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1A2A4A"/>
                </a:solidFill>
                <a:latin typeface="Calibri"/>
              </a:rPr>
              <a:t>Cross-validation: </a:t>
            </a:r>
            <a:r>
              <a:rPr sz="900" b="0">
                <a:solidFill>
                  <a:srgbClr val="475569"/>
                </a:solidFill>
                <a:latin typeface="Calibri"/>
              </a:rPr>
              <a:t>Stratified 10-fold on training set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 b="1">
                <a:solidFill>
                  <a:srgbClr val="1A2A4A"/>
                </a:solidFill>
                <a:latin typeface="Calibri"/>
              </a:rPr>
              <a:t>Stratified: </a:t>
            </a:r>
            <a:r>
              <a:rPr sz="900" b="0">
                <a:solidFill>
                  <a:srgbClr val="475569"/>
                </a:solidFill>
                <a:latin typeface="Calibri"/>
              </a:rPr>
              <a:t>Each fold preserves original class ratios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1A2A4A"/>
                </a:solidFill>
                <a:latin typeface="Calibri"/>
              </a:rPr>
              <a:t>10-Fold Cross-Validation: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475569"/>
                </a:solidFill>
                <a:latin typeface="Consolas"/>
              </a:rPr>
              <a:t>  Fold 1: [TEST] [TRAIN] [TRAIN] [TRAIN] [TRAIN] [TRAIN] [TRAIN] [TRAIN] [TRAIN] [TRAIN]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475569"/>
                </a:solidFill>
                <a:latin typeface="Consolas"/>
              </a:rPr>
              <a:t>  Fold 2: [TRAIN] [TEST] [TRAIN] [TRAIN] [TRAIN] [TRAIN] [TRAIN] [TRAIN] [TRAIN] [TRAIN]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475569"/>
                </a:solidFill>
                <a:latin typeface="Consolas"/>
              </a:rPr>
              <a:t>  Fold 3: [TRAIN] [TRAIN] [TEST] [TRAIN] [TRAIN] [TRAIN] [TRAIN] [TRAIN] [TRAIN] [TRAIN]</a:t>
            </a:r>
          </a:p>
          <a:p>
            <a:pPr>
              <a:spcBef>
                <a:spcPts val="100"/>
              </a:spcBef>
            </a:pPr>
            <a:r>
              <a:rPr sz="700">
                <a:solidFill>
                  <a:srgbClr val="64748B"/>
                </a:solidFill>
                <a:latin typeface="Consolas"/>
              </a:rPr>
              <a:t>  ...    (repeated 10 times, each fold tested once)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589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A4A"/>
                </a:solidFill>
                <a:latin typeface="Calibri"/>
              </a:defRPr>
            </a:pPr>
            <a:r>
              <a:t>Feature Engineering &amp; Evaluation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2057400" cy="33832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2519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98A"/>
                </a:solidFill>
                <a:latin typeface="Calibri"/>
              </a:defRPr>
            </a:pPr>
            <a:r>
              <a:t>Feature Engineering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000" b="1">
                <a:solidFill>
                  <a:srgbClr val="00898A"/>
                </a:solidFill>
                <a:latin typeface="Calibri"/>
              </a:rPr>
              <a:t>A. Correlation Analysis: </a:t>
            </a:r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Identify highly correlated feature pairs (r &gt; 0.9). Remove one from each pair to reduce redundancy without losing information.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00898A"/>
                </a:solidFill>
                <a:latin typeface="Calibri"/>
              </a:rPr>
              <a:t>B. Feature Importance Ranking: </a:t>
            </a:r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Use Random Forest / XGBoost built-in importance scores to rank features by their contribution to classification.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00898A"/>
                </a:solidFill>
                <a:latin typeface="Calibri"/>
              </a:rPr>
              <a:t>C. Variance Threshold: </a:t>
            </a:r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Remove near-zero variance features that carry no useful information for distinguishing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94760"/>
            <a:ext cx="3977639" cy="109728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98A"/>
                </a:solidFill>
                <a:latin typeface="Calibri"/>
              </a:defRPr>
            </a:pPr>
            <a:r>
              <a:t>Expected Finding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900" b="0">
                <a:solidFill>
                  <a:srgbClr val="475569"/>
                </a:solidFill>
                <a:latin typeface="Calibri"/>
              </a:defRPr>
            </a:pPr>
            <a:r>
              <a:t>Literature suggests ~10-15 features out of 41 carry most discriminative power. Key features likely include: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800" b="1">
                <a:solidFill>
                  <a:srgbClr val="00898A"/>
                </a:solidFill>
                <a:latin typeface="Calibri"/>
              </a:defRPr>
            </a:pPr>
            <a:r>
              <a:t>src_bytes, dst_bytes, service, flag, count, srv_count, same_srv_rate, dst_host_srv_count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914400"/>
            <a:ext cx="42519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987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352"/>
                </a:solidFill>
                <a:latin typeface="Calibri"/>
              </a:defRPr>
            </a:pPr>
            <a:r>
              <a:t>Evaluation Metrics Explained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280160"/>
            <a:ext cx="3931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E86352"/>
                </a:solidFill>
                <a:latin typeface="Calibri"/>
              </a:rPr>
              <a:t>Accuracy: </a:t>
            </a:r>
            <a:r>
              <a:rPr sz="900" b="0">
                <a:solidFill>
                  <a:srgbClr val="475569"/>
                </a:solidFill>
                <a:latin typeface="Calibri"/>
              </a:rPr>
              <a:t>Overall correct predictions / total. Misleading with imbalanced data — a model predicting 'Normal' for everything gets 53%.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E09F1F"/>
                </a:solidFill>
                <a:latin typeface="Calibri"/>
              </a:rPr>
              <a:t>Precision: </a:t>
            </a:r>
            <a:r>
              <a:rPr sz="900" b="0">
                <a:solidFill>
                  <a:srgbClr val="475569"/>
                </a:solidFill>
                <a:latin typeface="Calibri"/>
              </a:rPr>
              <a:t>Of all predicted attacks, how many were real? High precision = few false alarms.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16A34A"/>
                </a:solidFill>
                <a:latin typeface="Calibri"/>
              </a:rPr>
              <a:t>Recall: </a:t>
            </a:r>
            <a:r>
              <a:rPr sz="900" b="0">
                <a:solidFill>
                  <a:srgbClr val="475569"/>
                </a:solidFill>
                <a:latin typeface="Calibri"/>
              </a:rPr>
              <a:t>Of all actual attacks, how many were caught? High recall = few missed attacks. Critical for security.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1A2A4A"/>
                </a:solidFill>
                <a:latin typeface="Calibri"/>
              </a:rPr>
              <a:t>F1-Score: </a:t>
            </a:r>
            <a:r>
              <a:rPr sz="900" b="0">
                <a:solidFill>
                  <a:srgbClr val="475569"/>
                </a:solidFill>
                <a:latin typeface="Calibri"/>
              </a:rPr>
              <a:t>Harmonic mean of Precision &amp; Recall. Both must be good for F1 to be high. Our primary metric.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7C3AED"/>
                </a:solidFill>
                <a:latin typeface="Calibri"/>
              </a:rPr>
              <a:t>ROC-AUC: </a:t>
            </a:r>
            <a:r>
              <a:rPr sz="900" b="0">
                <a:solidFill>
                  <a:srgbClr val="475569"/>
                </a:solidFill>
                <a:latin typeface="Calibri"/>
              </a:rPr>
              <a:t>Trade-off between true positive &amp; false positive rates. Closer to 1.0 = better. 0.5 = random guess.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0898A"/>
                </a:solidFill>
                <a:latin typeface="Calibri"/>
              </a:rPr>
              <a:t>Confusion Matrix: </a:t>
            </a:r>
            <a:r>
              <a:rPr sz="900" b="0">
                <a:solidFill>
                  <a:srgbClr val="475569"/>
                </a:solidFill>
                <a:latin typeface="Calibri"/>
              </a:rPr>
              <a:t>5x5 grid showing exactly which classes get confused with which. Reveals where each model fails.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