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ec8f57788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ec8f57788_2_7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ec8f57788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ec8f57788_2_8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c8f57788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ec8f57788_2_9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ec8f57788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ec8f57788_2_11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ec8f57788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ec8f57788_2_13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ec8f57788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ec8f57788_2_16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ec8f57788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dec8f57788_2_17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dec8f57788_32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dec8f57788_60_0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dec8f57788_67_0)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dec8f57788_75_0)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dec8f57788_83_0)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p30"/>
          <p:cNvGrpSpPr/>
          <p:nvPr/>
        </p:nvGrpSpPr>
        <p:grpSpPr>
          <a:xfrm>
            <a:off x="571500" y="428625"/>
            <a:ext cx="8001000" cy="1143000"/>
            <a:chOff x="571500" y="428625"/>
            <a:chExt cx="8001000" cy="1143000"/>
          </a:xfrm>
        </p:grpSpPr>
        <p:sp>
          <p:nvSpPr>
            <p:cNvPr id="151" name="Google Shape;151;p30"/>
            <p:cNvSpPr txBox="1"/>
            <p:nvPr/>
          </p:nvSpPr>
          <p:spPr>
            <a:xfrm>
              <a:off x="571500" y="428625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59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A Comparative Study of Classical Machine Learning Algorithms</a:t>
              </a:r>
              <a:endParaRPr b="1" sz="259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665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for Multi-Class Network Intrusion Detection</a:t>
              </a:r>
              <a:endParaRPr b="0" sz="1665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0"/>
            <p:cNvSpPr/>
            <p:nvPr/>
          </p:nvSpPr>
          <p:spPr>
            <a:xfrm>
              <a:off x="571500" y="1476375"/>
              <a:ext cx="2057400" cy="34200"/>
            </a:xfrm>
            <a:prstGeom prst="rect">
              <a:avLst/>
            </a:prstGeom>
            <a:solidFill>
              <a:srgbClr val="0089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30"/>
          <p:cNvGrpSpPr/>
          <p:nvPr/>
        </p:nvGrpSpPr>
        <p:grpSpPr>
          <a:xfrm>
            <a:off x="571500" y="1714500"/>
            <a:ext cx="3048000" cy="381000"/>
            <a:chOff x="571500" y="1714500"/>
            <a:chExt cx="3048000" cy="381000"/>
          </a:xfrm>
        </p:grpSpPr>
        <p:sp>
          <p:nvSpPr>
            <p:cNvPr id="154" name="Google Shape;154;p30"/>
            <p:cNvSpPr/>
            <p:nvPr/>
          </p:nvSpPr>
          <p:spPr>
            <a:xfrm>
              <a:off x="571500" y="1714500"/>
              <a:ext cx="3048000" cy="381000"/>
            </a:xfrm>
            <a:prstGeom prst="roundRect">
              <a:avLst>
                <a:gd fmla="val 50000" name="adj"/>
              </a:avLst>
            </a:prstGeom>
            <a:solidFill>
              <a:srgbClr val="00898A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0"/>
            <p:cNvSpPr txBox="1"/>
            <p:nvPr/>
          </p:nvSpPr>
          <p:spPr>
            <a:xfrm>
              <a:off x="571500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Using the NSL-KDD Benchmark Dataset</a:t>
              </a:r>
              <a:endParaRPr b="1" sz="12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30"/>
          <p:cNvGrpSpPr/>
          <p:nvPr/>
        </p:nvGrpSpPr>
        <p:grpSpPr>
          <a:xfrm>
            <a:off x="571500" y="2476500"/>
            <a:ext cx="8001000" cy="1524000"/>
            <a:chOff x="571500" y="2476500"/>
            <a:chExt cx="8001000" cy="1524000"/>
          </a:xfrm>
        </p:grpSpPr>
        <p:sp>
          <p:nvSpPr>
            <p:cNvPr id="157" name="Google Shape;157;p30"/>
            <p:cNvSpPr/>
            <p:nvPr/>
          </p:nvSpPr>
          <p:spPr>
            <a:xfrm>
              <a:off x="571500" y="2476500"/>
              <a:ext cx="8001000" cy="1524000"/>
            </a:xfrm>
            <a:prstGeom prst="roundRect">
              <a:avLst>
                <a:gd fmla="val 9375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0"/>
            <p:cNvSpPr txBox="1"/>
            <p:nvPr/>
          </p:nvSpPr>
          <p:spPr>
            <a:xfrm>
              <a:off x="809625" y="2619375"/>
              <a:ext cx="7524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Sudip Adhikari (250578)</a:t>
              </a:r>
              <a:endParaRPr b="1" sz="24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M.Sc. </a:t>
              </a:r>
              <a:r>
                <a:rPr lang="en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Data Science</a:t>
              </a:r>
              <a:endParaRPr b="0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Softwarica College of IT &amp; E-Commerce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en" sz="1200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in collaboration with Coventry University</a:t>
              </a:r>
              <a:endParaRPr b="0" i="1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30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160" name="Google Shape;160;p30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0"/>
            <p:cNvSpPr txBox="1"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| Project Proposal | 2026</a:t>
              </a:r>
              <a:endParaRPr b="1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548655" y="274320"/>
            <a:ext cx="7544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Why Network Intrusion Detection?</a:t>
            </a:r>
            <a:endParaRPr sz="1100"/>
          </a:p>
        </p:txBody>
      </p:sp>
      <p:sp>
        <p:nvSpPr>
          <p:cNvPr id="168" name="Google Shape;168;p31"/>
          <p:cNvSpPr/>
          <p:nvPr/>
        </p:nvSpPr>
        <p:spPr>
          <a:xfrm>
            <a:off x="548655" y="754380"/>
            <a:ext cx="2057400" cy="342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31"/>
          <p:cNvGrpSpPr/>
          <p:nvPr/>
        </p:nvGrpSpPr>
        <p:grpSpPr>
          <a:xfrm>
            <a:off x="476250" y="1143000"/>
            <a:ext cx="8191500" cy="3238500"/>
            <a:chOff x="476250" y="1143000"/>
            <a:chExt cx="8191500" cy="3238500"/>
          </a:xfrm>
        </p:grpSpPr>
        <p:sp>
          <p:nvSpPr>
            <p:cNvPr id="170" name="Google Shape;170;p31"/>
            <p:cNvSpPr/>
            <p:nvPr/>
          </p:nvSpPr>
          <p:spPr>
            <a:xfrm>
              <a:off x="476250" y="1143000"/>
              <a:ext cx="4000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0089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714375" y="1381125"/>
              <a:ext cx="571500" cy="381000"/>
            </a:xfrm>
            <a:prstGeom prst="roundRect">
              <a:avLst>
                <a:gd fmla="val 20000" name="adj"/>
              </a:avLst>
            </a:prstGeom>
            <a:solidFill>
              <a:srgbClr val="0089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1"/>
            <p:cNvSpPr txBox="1"/>
            <p:nvPr/>
          </p:nvSpPr>
          <p:spPr>
            <a:xfrm>
              <a:off x="714375" y="141033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3" name="Google Shape;173;p31"/>
            <p:cNvSpPr txBox="1"/>
            <p:nvPr/>
          </p:nvSpPr>
          <p:spPr>
            <a:xfrm>
              <a:off x="1381125" y="1381125"/>
              <a:ext cx="28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The Problem</a:t>
              </a:r>
              <a:endParaRPr b="1" sz="20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31"/>
            <p:cNvSpPr txBox="1"/>
            <p:nvPr/>
          </p:nvSpPr>
          <p:spPr>
            <a:xfrm>
              <a:off x="714375" y="1905000"/>
              <a:ext cx="35244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Global &amp; Local Threat:</a:t>
              </a:r>
              <a:r>
                <a:rPr lang="en" sz="101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Cyberattacks are growing fast globally and in Nepal — most organizations still rely on basic signature-based firewalls</a:t>
              </a:r>
              <a:endParaRPr sz="101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Legacy Limitations:</a:t>
              </a:r>
              <a:r>
                <a:rPr lang="en" sz="101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Traditional IDS use predefined rules — they catch known attacks but completely miss new or modified ones</a:t>
              </a:r>
              <a:endParaRPr sz="101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Need for Automation:</a:t>
              </a:r>
              <a:r>
                <a:rPr lang="en" sz="101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We need systems that can learn patterns from network traffic and flag suspicious activity automatically</a:t>
              </a:r>
              <a:endParaRPr sz="101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Research Gap:</a:t>
              </a:r>
              <a:r>
                <a:rPr lang="en" sz="101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Most existing studies test only 1-2 algorithms — there is no clear picture of which classical ML approach works best</a:t>
              </a:r>
              <a:endParaRPr sz="101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1"/>
            <p:cNvSpPr/>
            <p:nvPr/>
          </p:nvSpPr>
          <p:spPr>
            <a:xfrm>
              <a:off x="4667250" y="1143000"/>
              <a:ext cx="4000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1A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1"/>
            <p:cNvSpPr/>
            <p:nvPr/>
          </p:nvSpPr>
          <p:spPr>
            <a:xfrm>
              <a:off x="4905375" y="1381125"/>
              <a:ext cx="571500" cy="381000"/>
            </a:xfrm>
            <a:prstGeom prst="roundRect">
              <a:avLst>
                <a:gd fmla="val 20000" name="adj"/>
              </a:avLst>
            </a:prstGeom>
            <a:solidFill>
              <a:srgbClr val="1A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1"/>
            <p:cNvSpPr txBox="1"/>
            <p:nvPr/>
          </p:nvSpPr>
          <p:spPr>
            <a:xfrm>
              <a:off x="4905375" y="141033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8" name="Google Shape;178;p31"/>
            <p:cNvSpPr txBox="1"/>
            <p:nvPr/>
          </p:nvSpPr>
          <p:spPr>
            <a:xfrm>
              <a:off x="5572125" y="1381125"/>
              <a:ext cx="28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Why I Picked This</a:t>
              </a:r>
              <a:endParaRPr b="1" sz="20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1"/>
            <p:cNvSpPr txBox="1"/>
            <p:nvPr/>
          </p:nvSpPr>
          <p:spPr>
            <a:xfrm>
              <a:off x="4905375" y="1905000"/>
              <a:ext cx="35244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Benchmark Quality: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The NSL-KDD dataset is a gold-standard benchmark — publicly available, well-documented, no collection headaches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Market Relevance: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Cybersecurity + ML is a growing intersection with real-world demand in industry and research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Perfect Scope: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The project is scoped right — not a weekend homework, but not an impossible research task either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Unique Perspective: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Nobody else in class picked cybersecurity — this gives a different perspective from typical agriculture/IoT projects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548655" y="274320"/>
            <a:ext cx="7544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sz="1100"/>
          </a:p>
        </p:txBody>
      </p:sp>
      <p:sp>
        <p:nvSpPr>
          <p:cNvPr id="186" name="Google Shape;186;p32"/>
          <p:cNvSpPr/>
          <p:nvPr/>
        </p:nvSpPr>
        <p:spPr>
          <a:xfrm>
            <a:off x="548655" y="754380"/>
            <a:ext cx="2057400" cy="342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" name="Google Shape;187;p32"/>
          <p:cNvGrpSpPr/>
          <p:nvPr/>
        </p:nvGrpSpPr>
        <p:grpSpPr>
          <a:xfrm>
            <a:off x="542925" y="1047750"/>
            <a:ext cx="8048550" cy="3524175"/>
            <a:chOff x="542925" y="1047750"/>
            <a:chExt cx="8048550" cy="3524175"/>
          </a:xfrm>
        </p:grpSpPr>
        <p:sp>
          <p:nvSpPr>
            <p:cNvPr id="188" name="Google Shape;188;p32"/>
            <p:cNvSpPr/>
            <p:nvPr/>
          </p:nvSpPr>
          <p:spPr>
            <a:xfrm>
              <a:off x="542925" y="1047750"/>
              <a:ext cx="3952800" cy="1666800"/>
            </a:xfrm>
            <a:prstGeom prst="roundRect">
              <a:avLst>
                <a:gd fmla="val 9142" name="adj"/>
              </a:avLst>
            </a:prstGeom>
            <a:solidFill>
              <a:srgbClr val="FFFFFF"/>
            </a:solidFill>
            <a:ln cap="flat" cmpd="sng" w="14300">
              <a:solidFill>
                <a:srgbClr val="0089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2"/>
            <p:cNvSpPr/>
            <p:nvPr/>
          </p:nvSpPr>
          <p:spPr>
            <a:xfrm>
              <a:off x="733425" y="1238250"/>
              <a:ext cx="476400" cy="333300"/>
            </a:xfrm>
            <a:prstGeom prst="roundRect">
              <a:avLst>
                <a:gd fmla="val 22857" name="adj"/>
              </a:avLst>
            </a:prstGeom>
            <a:solidFill>
              <a:srgbClr val="0089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2"/>
            <p:cNvSpPr txBox="1"/>
            <p:nvPr/>
          </p:nvSpPr>
          <p:spPr>
            <a:xfrm>
              <a:off x="733425" y="1238250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2"/>
            <p:cNvSpPr txBox="1"/>
            <p:nvPr/>
          </p:nvSpPr>
          <p:spPr>
            <a:xfrm>
              <a:off x="1285875" y="1190625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Compare 6 Classical ML Algorithms</a:t>
              </a:r>
              <a:endParaRPr b="1" sz="14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2"/>
            <p:cNvSpPr txBox="1"/>
            <p:nvPr/>
          </p:nvSpPr>
          <p:spPr>
            <a:xfrm>
              <a:off x="733425" y="1666875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Train and evaluate Logistic Regression, KNN, Decision Tree, Random Forest, SVM, and XGBoost on the same dataset under identical conditions</a:t>
              </a:r>
              <a:endParaRPr b="0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4638675" y="1047750"/>
              <a:ext cx="3952800" cy="1666800"/>
            </a:xfrm>
            <a:prstGeom prst="roundRect">
              <a:avLst>
                <a:gd fmla="val 9142" name="adj"/>
              </a:avLst>
            </a:prstGeom>
            <a:solidFill>
              <a:srgbClr val="FFFFFF"/>
            </a:solidFill>
            <a:ln cap="flat" cmpd="sng" w="14300">
              <a:solidFill>
                <a:srgbClr val="E863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4829175" y="1238250"/>
              <a:ext cx="476400" cy="333300"/>
            </a:xfrm>
            <a:prstGeom prst="roundRect">
              <a:avLst>
                <a:gd fmla="val 22857" name="adj"/>
              </a:avLst>
            </a:prstGeom>
            <a:solidFill>
              <a:srgbClr val="E863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2"/>
            <p:cNvSpPr txBox="1"/>
            <p:nvPr/>
          </p:nvSpPr>
          <p:spPr>
            <a:xfrm>
              <a:off x="4829175" y="1238250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2"/>
            <p:cNvSpPr txBox="1"/>
            <p:nvPr/>
          </p:nvSpPr>
          <p:spPr>
            <a:xfrm>
              <a:off x="5381625" y="1190625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Multi-Class Attack Classification</a:t>
              </a:r>
              <a:endParaRPr b="1" sz="14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2"/>
            <p:cNvSpPr txBox="1"/>
            <p:nvPr/>
          </p:nvSpPr>
          <p:spPr>
            <a:xfrm>
              <a:off x="4829175" y="1666875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Classify network traffic into 5 categories: Normal, DoS, Probe, R2L, and U2R — not just binary normal-vs-attack</a:t>
              </a:r>
              <a:endParaRPr b="0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2"/>
            <p:cNvSpPr/>
            <p:nvPr/>
          </p:nvSpPr>
          <p:spPr>
            <a:xfrm>
              <a:off x="542925" y="2905125"/>
              <a:ext cx="3952800" cy="1666800"/>
            </a:xfrm>
            <a:prstGeom prst="roundRect">
              <a:avLst>
                <a:gd fmla="val 9142" name="adj"/>
              </a:avLst>
            </a:prstGeom>
            <a:solidFill>
              <a:srgbClr val="FFFFFF"/>
            </a:solidFill>
            <a:ln cap="flat" cmpd="sng" w="14300">
              <a:solidFill>
                <a:srgbClr val="E09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2"/>
            <p:cNvSpPr/>
            <p:nvPr/>
          </p:nvSpPr>
          <p:spPr>
            <a:xfrm>
              <a:off x="733425" y="3095625"/>
              <a:ext cx="476400" cy="333300"/>
            </a:xfrm>
            <a:prstGeom prst="roundRect">
              <a:avLst>
                <a:gd fmla="val 22857" name="adj"/>
              </a:avLst>
            </a:prstGeom>
            <a:solidFill>
              <a:srgbClr val="E09F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2"/>
            <p:cNvSpPr txBox="1"/>
            <p:nvPr/>
          </p:nvSpPr>
          <p:spPr>
            <a:xfrm>
              <a:off x="733425" y="309562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2"/>
            <p:cNvSpPr txBox="1"/>
            <p:nvPr/>
          </p:nvSpPr>
          <p:spPr>
            <a:xfrm>
              <a:off x="1285875" y="304800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Handle Class Imbalance</a:t>
              </a:r>
              <a:endParaRPr b="1" sz="14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32"/>
            <p:cNvSpPr txBox="1"/>
            <p:nvPr/>
          </p:nvSpPr>
          <p:spPr>
            <a:xfrm>
              <a:off x="733425" y="3524250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R2L and U2R attacks make up less than 2% of the data — explore techniques like SMOTE and class weighting to deal with this realistically</a:t>
              </a:r>
              <a:endParaRPr b="0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32"/>
            <p:cNvSpPr/>
            <p:nvPr/>
          </p:nvSpPr>
          <p:spPr>
            <a:xfrm>
              <a:off x="4638675" y="2905125"/>
              <a:ext cx="3952800" cy="1666800"/>
            </a:xfrm>
            <a:prstGeom prst="roundRect">
              <a:avLst>
                <a:gd fmla="val 9142" name="adj"/>
              </a:avLst>
            </a:prstGeom>
            <a:solidFill>
              <a:srgbClr val="FFFFFF"/>
            </a:solidFill>
            <a:ln cap="flat" cmpd="sng" w="14300">
              <a:solidFill>
                <a:srgbClr val="1A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2"/>
            <p:cNvSpPr/>
            <p:nvPr/>
          </p:nvSpPr>
          <p:spPr>
            <a:xfrm>
              <a:off x="4829175" y="3095625"/>
              <a:ext cx="476400" cy="333300"/>
            </a:xfrm>
            <a:prstGeom prst="roundRect">
              <a:avLst>
                <a:gd fmla="val 22857" name="adj"/>
              </a:avLst>
            </a:prstGeom>
            <a:solidFill>
              <a:srgbClr val="1A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2"/>
            <p:cNvSpPr txBox="1"/>
            <p:nvPr/>
          </p:nvSpPr>
          <p:spPr>
            <a:xfrm>
              <a:off x="4829175" y="309562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2"/>
            <p:cNvSpPr txBox="1"/>
            <p:nvPr/>
          </p:nvSpPr>
          <p:spPr>
            <a:xfrm>
              <a:off x="5381625" y="304800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Proper Evaluation Beyond Accuracy</a:t>
              </a:r>
              <a:endParaRPr b="1" sz="14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2"/>
            <p:cNvSpPr txBox="1"/>
            <p:nvPr/>
          </p:nvSpPr>
          <p:spPr>
            <a:xfrm>
              <a:off x="4829175" y="3524250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Use precision, recall, F1-score, confusion matrices, and ROC-AUC — because accuracy alone is misleading when classes are imbalanced</a:t>
              </a:r>
              <a:endParaRPr b="0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48655" y="274320"/>
            <a:ext cx="7544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The Dataset — NSL-KDD</a:t>
            </a:r>
            <a:endParaRPr sz="1100"/>
          </a:p>
        </p:txBody>
      </p:sp>
      <p:sp>
        <p:nvSpPr>
          <p:cNvPr id="214" name="Google Shape;214;p33"/>
          <p:cNvSpPr/>
          <p:nvPr/>
        </p:nvSpPr>
        <p:spPr>
          <a:xfrm>
            <a:off x="548655" y="754380"/>
            <a:ext cx="2057400" cy="342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33"/>
          <p:cNvGrpSpPr/>
          <p:nvPr/>
        </p:nvGrpSpPr>
        <p:grpSpPr>
          <a:xfrm>
            <a:off x="381000" y="1047750"/>
            <a:ext cx="4000500" cy="2000100"/>
            <a:chOff x="381000" y="1047750"/>
            <a:chExt cx="4000500" cy="2000100"/>
          </a:xfrm>
        </p:grpSpPr>
        <p:sp>
          <p:nvSpPr>
            <p:cNvPr id="216" name="Google Shape;216;p33"/>
            <p:cNvSpPr/>
            <p:nvPr/>
          </p:nvSpPr>
          <p:spPr>
            <a:xfrm>
              <a:off x="381000" y="1047750"/>
              <a:ext cx="4000500" cy="20001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3"/>
            <p:cNvSpPr txBox="1"/>
            <p:nvPr/>
          </p:nvSpPr>
          <p:spPr>
            <a:xfrm>
              <a:off x="381000" y="1047750"/>
              <a:ext cx="4000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What is NSL-KDD?</a:t>
              </a:r>
              <a:endParaRPr b="1" sz="18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Standard benchmark for network intrusion research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Cleaned version of KDD Cup 1999 (no duplicates)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Publicly available from Canadian Institute for Cybersecurity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41 distinct features (protocol, duration, bytes, etc.)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33"/>
          <p:cNvGrpSpPr/>
          <p:nvPr/>
        </p:nvGrpSpPr>
        <p:grpSpPr>
          <a:xfrm>
            <a:off x="4572000" y="1047750"/>
            <a:ext cx="4000500" cy="2000175"/>
            <a:chOff x="4572000" y="1047750"/>
            <a:chExt cx="4000500" cy="2000175"/>
          </a:xfrm>
        </p:grpSpPr>
        <p:grpSp>
          <p:nvGrpSpPr>
            <p:cNvPr id="219" name="Google Shape;219;p33"/>
            <p:cNvGrpSpPr/>
            <p:nvPr/>
          </p:nvGrpSpPr>
          <p:grpSpPr>
            <a:xfrm>
              <a:off x="4572000" y="1047750"/>
              <a:ext cx="1905000" cy="904800"/>
              <a:chOff x="4572000" y="1047750"/>
              <a:chExt cx="1905000" cy="904800"/>
            </a:xfrm>
          </p:grpSpPr>
          <p:sp>
            <p:nvSpPr>
              <p:cNvPr id="220" name="Google Shape;220;p33"/>
              <p:cNvSpPr/>
              <p:nvPr/>
            </p:nvSpPr>
            <p:spPr>
              <a:xfrm>
                <a:off x="4572000" y="1047750"/>
                <a:ext cx="1905000" cy="904800"/>
              </a:xfrm>
              <a:prstGeom prst="roundRect">
                <a:avLst>
                  <a:gd fmla="val 12631" name="adj"/>
                </a:avLst>
              </a:prstGeom>
              <a:solidFill>
                <a:srgbClr val="F0FDFA"/>
              </a:solidFill>
              <a:ln cap="flat" cmpd="sng" w="19050">
                <a:solidFill>
                  <a:srgbClr val="0089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33"/>
              <p:cNvSpPr txBox="1"/>
              <p:nvPr/>
            </p:nvSpPr>
            <p:spPr>
              <a:xfrm>
                <a:off x="4572000" y="1047750"/>
                <a:ext cx="19050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00898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125,973</a:t>
                </a:r>
                <a:endParaRPr b="1" sz="2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Training Samples</a:t>
                </a:r>
                <a:endParaRPr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33"/>
            <p:cNvGrpSpPr/>
            <p:nvPr/>
          </p:nvGrpSpPr>
          <p:grpSpPr>
            <a:xfrm>
              <a:off x="6667500" y="1047750"/>
              <a:ext cx="1905000" cy="904800"/>
              <a:chOff x="6667500" y="1047750"/>
              <a:chExt cx="1905000" cy="904800"/>
            </a:xfrm>
          </p:grpSpPr>
          <p:sp>
            <p:nvSpPr>
              <p:cNvPr id="223" name="Google Shape;223;p33"/>
              <p:cNvSpPr/>
              <p:nvPr/>
            </p:nvSpPr>
            <p:spPr>
              <a:xfrm>
                <a:off x="6667500" y="1047750"/>
                <a:ext cx="1905000" cy="904800"/>
              </a:xfrm>
              <a:prstGeom prst="roundRect">
                <a:avLst>
                  <a:gd fmla="val 12631" name="adj"/>
                </a:avLst>
              </a:prstGeom>
              <a:solidFill>
                <a:srgbClr val="FEF2F2"/>
              </a:solidFill>
              <a:ln cap="flat" cmpd="sng" w="19050">
                <a:solidFill>
                  <a:srgbClr val="E8635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33"/>
              <p:cNvSpPr txBox="1"/>
              <p:nvPr/>
            </p:nvSpPr>
            <p:spPr>
              <a:xfrm>
                <a:off x="6667500" y="1047750"/>
                <a:ext cx="19050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E8635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22,544</a:t>
                </a:r>
                <a:endParaRPr b="1" sz="2200">
                  <a:solidFill>
                    <a:srgbClr val="E8635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 Samples</a:t>
                </a:r>
                <a:endParaRPr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3"/>
            <p:cNvGrpSpPr/>
            <p:nvPr/>
          </p:nvGrpSpPr>
          <p:grpSpPr>
            <a:xfrm>
              <a:off x="4572000" y="2143125"/>
              <a:ext cx="1905000" cy="904800"/>
              <a:chOff x="4572000" y="2143125"/>
              <a:chExt cx="1905000" cy="904800"/>
            </a:xfrm>
          </p:grpSpPr>
          <p:sp>
            <p:nvSpPr>
              <p:cNvPr id="226" name="Google Shape;226;p33"/>
              <p:cNvSpPr/>
              <p:nvPr/>
            </p:nvSpPr>
            <p:spPr>
              <a:xfrm>
                <a:off x="4572000" y="2143125"/>
                <a:ext cx="1905000" cy="904800"/>
              </a:xfrm>
              <a:prstGeom prst="roundRect">
                <a:avLst>
                  <a:gd fmla="val 12631" name="adj"/>
                </a:avLst>
              </a:prstGeom>
              <a:solidFill>
                <a:srgbClr val="FFFBEB"/>
              </a:solidFill>
              <a:ln cap="flat" cmpd="sng" w="19050">
                <a:solidFill>
                  <a:srgbClr val="E09F1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33"/>
              <p:cNvSpPr txBox="1"/>
              <p:nvPr/>
            </p:nvSpPr>
            <p:spPr>
              <a:xfrm>
                <a:off x="4572000" y="2143125"/>
                <a:ext cx="19050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E09F1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41</a:t>
                </a:r>
                <a:endParaRPr b="1" sz="2200">
                  <a:solidFill>
                    <a:srgbClr val="E09F1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Features</a:t>
                </a:r>
                <a:endParaRPr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3"/>
            <p:cNvGrpSpPr/>
            <p:nvPr/>
          </p:nvGrpSpPr>
          <p:grpSpPr>
            <a:xfrm>
              <a:off x="6667500" y="2143125"/>
              <a:ext cx="1905000" cy="904800"/>
              <a:chOff x="6667500" y="2143125"/>
              <a:chExt cx="1905000" cy="904800"/>
            </a:xfrm>
          </p:grpSpPr>
          <p:sp>
            <p:nvSpPr>
              <p:cNvPr id="229" name="Google Shape;229;p33"/>
              <p:cNvSpPr/>
              <p:nvPr/>
            </p:nvSpPr>
            <p:spPr>
              <a:xfrm>
                <a:off x="6667500" y="2143125"/>
                <a:ext cx="1905000" cy="904800"/>
              </a:xfrm>
              <a:prstGeom prst="roundRect">
                <a:avLst>
                  <a:gd fmla="val 12631" name="adj"/>
                </a:avLst>
              </a:prstGeom>
              <a:solidFill>
                <a:srgbClr val="EFF6FF"/>
              </a:solidFill>
              <a:ln cap="flat" cmpd="sng" w="19050">
                <a:solidFill>
                  <a:srgbClr val="1A2A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33"/>
              <p:cNvSpPr txBox="1"/>
              <p:nvPr/>
            </p:nvSpPr>
            <p:spPr>
              <a:xfrm>
                <a:off x="6667500" y="2143125"/>
                <a:ext cx="19050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1A2A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1" sz="22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Classes</a:t>
                </a:r>
                <a:endParaRPr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" name="Google Shape;231;p33"/>
          <p:cNvGrpSpPr/>
          <p:nvPr/>
        </p:nvGrpSpPr>
        <p:grpSpPr>
          <a:xfrm>
            <a:off x="381000" y="3238500"/>
            <a:ext cx="8191500" cy="1524000"/>
            <a:chOff x="381000" y="3238500"/>
            <a:chExt cx="8191500" cy="1524000"/>
          </a:xfrm>
        </p:grpSpPr>
        <p:sp>
          <p:nvSpPr>
            <p:cNvPr id="232" name="Google Shape;232;p33"/>
            <p:cNvSpPr/>
            <p:nvPr/>
          </p:nvSpPr>
          <p:spPr>
            <a:xfrm>
              <a:off x="381000" y="3238500"/>
              <a:ext cx="8191500" cy="1524000"/>
            </a:xfrm>
            <a:prstGeom prst="roundRect">
              <a:avLst>
                <a:gd fmla="val 9375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3"/>
            <p:cNvSpPr txBox="1"/>
            <p:nvPr/>
          </p:nvSpPr>
          <p:spPr>
            <a:xfrm>
              <a:off x="381000" y="3238500"/>
              <a:ext cx="8191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86352"/>
                  </a:solidFill>
                  <a:latin typeface="Calibri"/>
                  <a:ea typeface="Calibri"/>
                  <a:cs typeface="Calibri"/>
                  <a:sym typeface="Calibri"/>
                </a:rPr>
                <a:t>Class Distribution: The Imbalance Challenge</a:t>
              </a:r>
              <a:endParaRPr b="1" sz="1600">
                <a:solidFill>
                  <a:srgbClr val="E8635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2A4A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Normal: ~53% | DoS: ~36% | Probe: ~9% | R2L: ~1.7% | U2R: ~0.04%</a:t>
              </a:r>
              <a:endParaRPr b="1" sz="1200">
                <a:solidFill>
                  <a:srgbClr val="1A2A4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R2L and U2R are extremely rare, mirroring real-world conditions but complicating classification. A naive model predicting 'Normal' achieves ~53% accuracy, proving the need for advanced performance metrics.</a:t>
              </a:r>
              <a:endParaRPr b="0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523875" y="714375"/>
            <a:ext cx="2057400" cy="342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476250" y="274320"/>
            <a:ext cx="8096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Methodology Overview</a:t>
            </a:r>
            <a:endParaRPr b="1" i="0" sz="2800">
              <a:solidFill>
                <a:srgbClr val="1A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34"/>
          <p:cNvGrpSpPr/>
          <p:nvPr/>
        </p:nvGrpSpPr>
        <p:grpSpPr>
          <a:xfrm>
            <a:off x="476250" y="952500"/>
            <a:ext cx="8096325" cy="1714500"/>
            <a:chOff x="476250" y="952500"/>
            <a:chExt cx="8096325" cy="1714500"/>
          </a:xfrm>
        </p:grpSpPr>
        <p:sp>
          <p:nvSpPr>
            <p:cNvPr id="242" name="Google Shape;242;p34"/>
            <p:cNvSpPr/>
            <p:nvPr/>
          </p:nvSpPr>
          <p:spPr>
            <a:xfrm>
              <a:off x="476250" y="952500"/>
              <a:ext cx="1952700" cy="1714500"/>
            </a:xfrm>
            <a:prstGeom prst="roundRect">
              <a:avLst>
                <a:gd fmla="val 8333" name="adj"/>
              </a:avLst>
            </a:prstGeom>
            <a:solidFill>
              <a:srgbClr val="F0FDFA"/>
            </a:solidFill>
            <a:ln cap="flat" cmpd="sng" w="19050">
              <a:solidFill>
                <a:srgbClr val="0089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524125" y="952500"/>
              <a:ext cx="1952700" cy="1714500"/>
            </a:xfrm>
            <a:prstGeom prst="roundRect">
              <a:avLst>
                <a:gd fmla="val 8333" name="adj"/>
              </a:avLst>
            </a:prstGeom>
            <a:solidFill>
              <a:srgbClr val="FEF2F2"/>
            </a:solidFill>
            <a:ln cap="flat" cmpd="sng" w="19050">
              <a:solidFill>
                <a:srgbClr val="E863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4572000" y="952500"/>
              <a:ext cx="1952700" cy="1714500"/>
            </a:xfrm>
            <a:prstGeom prst="roundRect">
              <a:avLst>
                <a:gd fmla="val 8333" name="adj"/>
              </a:avLst>
            </a:prstGeom>
            <a:solidFill>
              <a:srgbClr val="FFFBEB"/>
            </a:solidFill>
            <a:ln cap="flat" cmpd="sng" w="19050">
              <a:solidFill>
                <a:srgbClr val="E09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6619875" y="952500"/>
              <a:ext cx="1952700" cy="1714500"/>
            </a:xfrm>
            <a:prstGeom prst="roundRect">
              <a:avLst>
                <a:gd fmla="val 8333" name="adj"/>
              </a:avLst>
            </a:prstGeom>
            <a:solidFill>
              <a:srgbClr val="EFF6FF"/>
            </a:solidFill>
            <a:ln cap="flat" cmpd="sng" w="19050">
              <a:solidFill>
                <a:srgbClr val="1A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4"/>
            <p:cNvSpPr txBox="1"/>
            <p:nvPr/>
          </p:nvSpPr>
          <p:spPr>
            <a:xfrm>
              <a:off x="619125" y="1095375"/>
              <a:ext cx="1666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01. Data Preprocessing</a:t>
              </a:r>
              <a:endParaRPr b="1" sz="14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Encode categorical features, normalize numerical values, and handle imbalance using SMOTE.</a:t>
              </a:r>
              <a:endParaRPr b="0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34"/>
            <p:cNvSpPr txBox="1"/>
            <p:nvPr/>
          </p:nvSpPr>
          <p:spPr>
            <a:xfrm>
              <a:off x="2667000" y="1095375"/>
              <a:ext cx="1666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86352"/>
                  </a:solidFill>
                  <a:latin typeface="Calibri"/>
                  <a:ea typeface="Calibri"/>
                  <a:cs typeface="Calibri"/>
                  <a:sym typeface="Calibri"/>
                </a:rPr>
                <a:t>02. Feature Engineering</a:t>
              </a:r>
              <a:endParaRPr b="1" sz="1400">
                <a:solidFill>
                  <a:srgbClr val="E8635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Analyze correlations, remove redundant features, and select the most informative signals.</a:t>
              </a:r>
              <a:endParaRPr b="0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34"/>
            <p:cNvSpPr txBox="1"/>
            <p:nvPr/>
          </p:nvSpPr>
          <p:spPr>
            <a:xfrm>
              <a:off x="4714875" y="1095375"/>
              <a:ext cx="1666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09F1F"/>
                  </a:solidFill>
                  <a:latin typeface="Calibri"/>
                  <a:ea typeface="Calibri"/>
                  <a:cs typeface="Calibri"/>
                  <a:sym typeface="Calibri"/>
                </a:rPr>
                <a:t>03. Model Training</a:t>
              </a:r>
              <a:endParaRPr b="1" sz="1400">
                <a:solidFill>
                  <a:srgbClr val="E09F1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Train 6 algorithms using 10-fold cross-validation for robust performance estimation.</a:t>
              </a:r>
              <a:endParaRPr b="0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34"/>
            <p:cNvSpPr txBox="1"/>
            <p:nvPr/>
          </p:nvSpPr>
          <p:spPr>
            <a:xfrm>
              <a:off x="6762750" y="1095375"/>
              <a:ext cx="1666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04. Evaluation</a:t>
              </a:r>
              <a:endParaRPr b="1" sz="14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Assess models via Confusion Matrices, P/R/F1 scores, ROC-AUC, and feature rankings.</a:t>
              </a:r>
              <a:endParaRPr b="0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34"/>
          <p:cNvGrpSpPr/>
          <p:nvPr/>
        </p:nvGrpSpPr>
        <p:grpSpPr>
          <a:xfrm>
            <a:off x="476250" y="2857500"/>
            <a:ext cx="8096400" cy="1905000"/>
            <a:chOff x="476250" y="2857500"/>
            <a:chExt cx="8096400" cy="1905000"/>
          </a:xfrm>
        </p:grpSpPr>
        <p:sp>
          <p:nvSpPr>
            <p:cNvPr id="251" name="Google Shape;251;p34"/>
            <p:cNvSpPr/>
            <p:nvPr/>
          </p:nvSpPr>
          <p:spPr>
            <a:xfrm>
              <a:off x="476250" y="2857500"/>
              <a:ext cx="8096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4"/>
            <p:cNvSpPr txBox="1"/>
            <p:nvPr/>
          </p:nvSpPr>
          <p:spPr>
            <a:xfrm>
              <a:off x="666750" y="3000375"/>
              <a:ext cx="771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Algorithms Being Compared</a:t>
              </a:r>
              <a:endParaRPr b="1" sz="16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34"/>
            <p:cNvSpPr txBox="1"/>
            <p:nvPr/>
          </p:nvSpPr>
          <p:spPr>
            <a:xfrm>
              <a:off x="666750" y="3381375"/>
              <a:ext cx="3714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Logistic Regression: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Linear baseline for initial comparison.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86352"/>
                  </a:solidFill>
                  <a:latin typeface="Calibri"/>
                  <a:ea typeface="Calibri"/>
                  <a:cs typeface="Calibri"/>
                  <a:sym typeface="Calibri"/>
                </a:rPr>
                <a:t>K-Nearest Neighbors: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Distance-based classification logic.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09F1F"/>
                  </a:solidFill>
                  <a:latin typeface="Calibri"/>
                  <a:ea typeface="Calibri"/>
                  <a:cs typeface="Calibri"/>
                  <a:sym typeface="Calibri"/>
                </a:rPr>
                <a:t>Decision Tree: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Rule-based logic with high interpretability.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34"/>
            <p:cNvSpPr txBox="1"/>
            <p:nvPr/>
          </p:nvSpPr>
          <p:spPr>
            <a:xfrm>
              <a:off x="4572000" y="3381375"/>
              <a:ext cx="3714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Random Forest: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Ensemble of trees for robust variance reduction.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SVM: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Margin-based classifier for high-dimensional separation.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86352"/>
                  </a:solidFill>
                  <a:latin typeface="Calibri"/>
                  <a:ea typeface="Calibri"/>
                  <a:cs typeface="Calibri"/>
                  <a:sym typeface="Calibri"/>
                </a:rPr>
                <a:t>XGBoost: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Gradient boosting for state-of-the-art accuracy.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548655" y="274320"/>
            <a:ext cx="7544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1100"/>
          </a:p>
        </p:txBody>
      </p:sp>
      <p:sp>
        <p:nvSpPr>
          <p:cNvPr id="261" name="Google Shape;261;p35"/>
          <p:cNvSpPr/>
          <p:nvPr/>
        </p:nvSpPr>
        <p:spPr>
          <a:xfrm>
            <a:off x="548655" y="754380"/>
            <a:ext cx="2057400" cy="342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35"/>
          <p:cNvGrpSpPr/>
          <p:nvPr/>
        </p:nvGrpSpPr>
        <p:grpSpPr>
          <a:xfrm>
            <a:off x="548640" y="1028700"/>
            <a:ext cx="8046720" cy="3000300"/>
            <a:chOff x="548640" y="1028700"/>
            <a:chExt cx="8046720" cy="3000300"/>
          </a:xfrm>
        </p:grpSpPr>
        <p:sp>
          <p:nvSpPr>
            <p:cNvPr id="263" name="Google Shape;263;p35"/>
            <p:cNvSpPr/>
            <p:nvPr/>
          </p:nvSpPr>
          <p:spPr>
            <a:xfrm>
              <a:off x="548640" y="1028700"/>
              <a:ext cx="5048400" cy="3000300"/>
            </a:xfrm>
            <a:prstGeom prst="roundRect">
              <a:avLst>
                <a:gd fmla="val 634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5"/>
            <p:cNvSpPr/>
            <p:nvPr/>
          </p:nvSpPr>
          <p:spPr>
            <a:xfrm>
              <a:off x="5737860" y="1028700"/>
              <a:ext cx="2857500" cy="3000300"/>
            </a:xfrm>
            <a:prstGeom prst="roundRect">
              <a:avLst>
                <a:gd fmla="val 6666" name="adj"/>
              </a:avLst>
            </a:prstGeom>
            <a:solidFill>
              <a:srgbClr val="F0FDFA"/>
            </a:solidFill>
            <a:ln cap="flat" cmpd="sng" w="9525">
              <a:solidFill>
                <a:srgbClr val="0089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5"/>
            <p:cNvSpPr txBox="1"/>
            <p:nvPr/>
          </p:nvSpPr>
          <p:spPr>
            <a:xfrm>
              <a:off x="739140" y="1219200"/>
              <a:ext cx="46671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3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What I Expect to Find</a:t>
              </a:r>
              <a:endParaRPr b="1" sz="153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0089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1190">
                <a:solidFill>
                  <a:srgbClr val="00898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Tree-based models</a:t>
              </a:r>
              <a:r>
                <a:rPr b="0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(Random Forest, XGBoost) will likely perform best overall — consistent with NSL-KDD literature.</a:t>
              </a:r>
              <a:endParaRPr b="0" sz="97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E8635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1190">
                <a:solidFill>
                  <a:srgbClr val="E8635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Models might show high accuracy but </a:t>
              </a:r>
              <a:r>
                <a:rPr b="1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fail on rare classes</a:t>
              </a:r>
              <a:r>
                <a:rPr b="0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(R2L, U2R) — this is the most critical area for analysis.</a:t>
              </a:r>
              <a:endParaRPr b="0" sz="97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E09F1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1190">
                <a:solidFill>
                  <a:srgbClr val="E09F1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Simpler models (Logistic Regression) may succeed at binary detection but </a:t>
              </a:r>
              <a:r>
                <a:rPr b="1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struggle with 5-class classification</a:t>
              </a:r>
              <a:r>
                <a:rPr b="0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97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1A2A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1190">
                <a:solidFill>
                  <a:srgbClr val="1A2A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Feature importance analysis</a:t>
              </a:r>
              <a:r>
                <a:rPr b="0" lang="en" sz="978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will provide practical value for network security teams in identifying intrusion signals.</a:t>
              </a:r>
              <a:endParaRPr b="0" sz="97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5"/>
            <p:cNvSpPr txBox="1"/>
            <p:nvPr/>
          </p:nvSpPr>
          <p:spPr>
            <a:xfrm>
              <a:off x="5928360" y="1219200"/>
              <a:ext cx="24765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Deliverables</a:t>
              </a:r>
              <a:endParaRPr b="1" sz="18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●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Python codebase (reproducible)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●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Comparison tables &amp; charts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●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Confusion matrices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●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Feature importance rankings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●</a:t>
              </a:r>
              <a:r>
                <a:rPr lang="en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Final report &amp; discussion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35"/>
          <p:cNvGrpSpPr/>
          <p:nvPr/>
        </p:nvGrpSpPr>
        <p:grpSpPr>
          <a:xfrm>
            <a:off x="548640" y="4191000"/>
            <a:ext cx="8046600" cy="571500"/>
            <a:chOff x="548640" y="4191000"/>
            <a:chExt cx="8046600" cy="571500"/>
          </a:xfrm>
        </p:grpSpPr>
        <p:sp>
          <p:nvSpPr>
            <p:cNvPr id="268" name="Google Shape;268;p35"/>
            <p:cNvSpPr/>
            <p:nvPr/>
          </p:nvSpPr>
          <p:spPr>
            <a:xfrm>
              <a:off x="548640" y="4191000"/>
              <a:ext cx="8046600" cy="571500"/>
            </a:xfrm>
            <a:prstGeom prst="roundRect">
              <a:avLst>
                <a:gd fmla="val 16666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5"/>
            <p:cNvSpPr txBox="1"/>
            <p:nvPr/>
          </p:nvSpPr>
          <p:spPr>
            <a:xfrm>
              <a:off x="643890" y="4238625"/>
              <a:ext cx="7856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Note:</a:t>
              </a:r>
              <a:r>
                <a:rPr i="1"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These are hypotheses based on existing literature. The project objective is to verify these through rigorous experimentation and present honest findings, regardless of whether they match expectations.</a:t>
              </a:r>
              <a:endParaRPr i="1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/>
          <p:nvPr/>
        </p:nvSpPr>
        <p:spPr>
          <a:xfrm>
            <a:off x="0" y="0"/>
            <a:ext cx="82200" cy="5143500"/>
          </a:xfrm>
          <a:prstGeom prst="rect">
            <a:avLst/>
          </a:prstGeom>
          <a:solidFill>
            <a:srgbClr val="008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p36"/>
          <p:cNvGrpSpPr/>
          <p:nvPr/>
        </p:nvGrpSpPr>
        <p:grpSpPr>
          <a:xfrm>
            <a:off x="476250" y="952500"/>
            <a:ext cx="8191500" cy="1905000"/>
            <a:chOff x="476250" y="952500"/>
            <a:chExt cx="8191500" cy="1905000"/>
          </a:xfrm>
        </p:grpSpPr>
        <p:sp>
          <p:nvSpPr>
            <p:cNvPr id="276" name="Google Shape;276;p36"/>
            <p:cNvSpPr/>
            <p:nvPr/>
          </p:nvSpPr>
          <p:spPr>
            <a:xfrm>
              <a:off x="476250" y="952500"/>
              <a:ext cx="81915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36"/>
            <p:cNvCxnSpPr/>
            <p:nvPr/>
          </p:nvCxnSpPr>
          <p:spPr>
            <a:xfrm>
              <a:off x="476250" y="219075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8" name="Google Shape;278;p36"/>
            <p:cNvSpPr/>
            <p:nvPr/>
          </p:nvSpPr>
          <p:spPr>
            <a:xfrm>
              <a:off x="1238250" y="2133600"/>
              <a:ext cx="114300" cy="114300"/>
            </a:xfrm>
            <a:prstGeom prst="ellipse">
              <a:avLst/>
            </a:prstGeom>
            <a:solidFill>
              <a:srgbClr val="0089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6"/>
            <p:cNvSpPr/>
            <p:nvPr/>
          </p:nvSpPr>
          <p:spPr>
            <a:xfrm>
              <a:off x="2876550" y="2133600"/>
              <a:ext cx="114300" cy="114300"/>
            </a:xfrm>
            <a:prstGeom prst="ellipse">
              <a:avLst/>
            </a:prstGeom>
            <a:solidFill>
              <a:srgbClr val="E863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6"/>
            <p:cNvSpPr/>
            <p:nvPr/>
          </p:nvSpPr>
          <p:spPr>
            <a:xfrm>
              <a:off x="4514850" y="2133600"/>
              <a:ext cx="114300" cy="114300"/>
            </a:xfrm>
            <a:prstGeom prst="ellipse">
              <a:avLst/>
            </a:prstGeom>
            <a:solidFill>
              <a:srgbClr val="E09F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6"/>
            <p:cNvSpPr/>
            <p:nvPr/>
          </p:nvSpPr>
          <p:spPr>
            <a:xfrm>
              <a:off x="6153150" y="2133600"/>
              <a:ext cx="114300" cy="114300"/>
            </a:xfrm>
            <a:prstGeom prst="ellipse">
              <a:avLst/>
            </a:prstGeom>
            <a:solidFill>
              <a:srgbClr val="1A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6"/>
            <p:cNvSpPr/>
            <p:nvPr/>
          </p:nvSpPr>
          <p:spPr>
            <a:xfrm>
              <a:off x="7791450" y="2133600"/>
              <a:ext cx="114300" cy="114300"/>
            </a:xfrm>
            <a:prstGeom prst="ellipse">
              <a:avLst/>
            </a:prstGeom>
            <a:solidFill>
              <a:srgbClr val="0089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6"/>
            <p:cNvSpPr txBox="1"/>
            <p:nvPr/>
          </p:nvSpPr>
          <p:spPr>
            <a:xfrm>
              <a:off x="476250" y="1047750"/>
              <a:ext cx="1638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Day 1-2</a:t>
              </a:r>
              <a:endParaRPr b="1" sz="12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Data loading, EDA, preprocessing, feature engineering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6"/>
            <p:cNvSpPr txBox="1"/>
            <p:nvPr/>
          </p:nvSpPr>
          <p:spPr>
            <a:xfrm>
              <a:off x="2114550" y="1047750"/>
              <a:ext cx="1638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86352"/>
                  </a:solidFill>
                  <a:latin typeface="Calibri"/>
                  <a:ea typeface="Calibri"/>
                  <a:cs typeface="Calibri"/>
                  <a:sym typeface="Calibri"/>
                </a:rPr>
                <a:t>Day 3-5</a:t>
              </a:r>
              <a:endParaRPr b="1" sz="1200">
                <a:solidFill>
                  <a:srgbClr val="E8635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Train all 6 models: LR, KNN, DT, RF, SVM, XGBoost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6"/>
            <p:cNvSpPr txBox="1"/>
            <p:nvPr/>
          </p:nvSpPr>
          <p:spPr>
            <a:xfrm>
              <a:off x="3752850" y="1047750"/>
              <a:ext cx="1638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09F1F"/>
                  </a:solidFill>
                  <a:latin typeface="Calibri"/>
                  <a:ea typeface="Calibri"/>
                  <a:cs typeface="Calibri"/>
                  <a:sym typeface="Calibri"/>
                </a:rPr>
                <a:t>Day 6-8</a:t>
              </a:r>
              <a:endParaRPr b="1" sz="1200">
                <a:solidFill>
                  <a:srgbClr val="E09F1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Evaluation, tuning, confusion matrices, ROC curves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6"/>
            <p:cNvSpPr txBox="1"/>
            <p:nvPr/>
          </p:nvSpPr>
          <p:spPr>
            <a:xfrm>
              <a:off x="5391150" y="1047750"/>
              <a:ext cx="1638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Day 9-11</a:t>
              </a:r>
              <a:endParaRPr b="1" sz="12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Feature importance, comparison analysis, visualizations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6"/>
            <p:cNvSpPr txBox="1"/>
            <p:nvPr/>
          </p:nvSpPr>
          <p:spPr>
            <a:xfrm>
              <a:off x="7029450" y="1047750"/>
              <a:ext cx="1638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Day 12-14</a:t>
              </a:r>
              <a:endParaRPr b="1" sz="12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Report writing, final presentation, cleanup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6"/>
            <p:cNvSpPr/>
            <p:nvPr/>
          </p:nvSpPr>
          <p:spPr>
            <a:xfrm>
              <a:off x="476250" y="2333625"/>
              <a:ext cx="3276600" cy="238200"/>
            </a:xfrm>
            <a:prstGeom prst="roundRect">
              <a:avLst>
                <a:gd fmla="val 48000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6"/>
            <p:cNvSpPr txBox="1"/>
            <p:nvPr/>
          </p:nvSpPr>
          <p:spPr>
            <a:xfrm>
              <a:off x="476250" y="2333625"/>
              <a:ext cx="3276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Week 1</a:t>
              </a:r>
              <a:endParaRPr b="1" sz="10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36"/>
            <p:cNvSpPr/>
            <p:nvPr/>
          </p:nvSpPr>
          <p:spPr>
            <a:xfrm>
              <a:off x="4019550" y="2333625"/>
              <a:ext cx="4648200" cy="238200"/>
            </a:xfrm>
            <a:prstGeom prst="roundRect">
              <a:avLst>
                <a:gd fmla="val 48000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6"/>
            <p:cNvSpPr txBox="1"/>
            <p:nvPr/>
          </p:nvSpPr>
          <p:spPr>
            <a:xfrm>
              <a:off x="4019550" y="2333625"/>
              <a:ext cx="464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86352"/>
                  </a:solidFill>
                  <a:latin typeface="Calibri"/>
                  <a:ea typeface="Calibri"/>
                  <a:cs typeface="Calibri"/>
                  <a:sym typeface="Calibri"/>
                </a:rPr>
                <a:t>Week 2</a:t>
              </a:r>
              <a:endParaRPr b="1" sz="1000">
                <a:solidFill>
                  <a:srgbClr val="E8635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36"/>
          <p:cNvGrpSpPr/>
          <p:nvPr/>
        </p:nvGrpSpPr>
        <p:grpSpPr>
          <a:xfrm>
            <a:off x="476250" y="3048000"/>
            <a:ext cx="8191500" cy="1714500"/>
            <a:chOff x="476250" y="3048000"/>
            <a:chExt cx="8191500" cy="1714500"/>
          </a:xfrm>
        </p:grpSpPr>
        <p:sp>
          <p:nvSpPr>
            <p:cNvPr id="293" name="Google Shape;293;p36"/>
            <p:cNvSpPr/>
            <p:nvPr/>
          </p:nvSpPr>
          <p:spPr>
            <a:xfrm>
              <a:off x="476250" y="3048000"/>
              <a:ext cx="4000500" cy="1714500"/>
            </a:xfrm>
            <a:prstGeom prst="roundRect">
              <a:avLst>
                <a:gd fmla="val 8333" name="adj"/>
              </a:avLst>
            </a:prstGeom>
            <a:solidFill>
              <a:srgbClr val="F0FDFA"/>
            </a:solidFill>
            <a:ln cap="flat" cmpd="sng" w="9525">
              <a:solidFill>
                <a:srgbClr val="0089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6"/>
            <p:cNvSpPr txBox="1"/>
            <p:nvPr/>
          </p:nvSpPr>
          <p:spPr>
            <a:xfrm>
              <a:off x="666750" y="3190875"/>
              <a:ext cx="3619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898A"/>
                  </a:solidFill>
                  <a:latin typeface="Calibri"/>
                  <a:ea typeface="Calibri"/>
                  <a:cs typeface="Calibri"/>
                  <a:sym typeface="Calibri"/>
                </a:rPr>
                <a:t>Tools &amp; Libraries</a:t>
              </a:r>
              <a:endParaRPr b="1" sz="1400">
                <a:solidFill>
                  <a:srgbClr val="00898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Python 3.x</a:t>
              </a: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— primary language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scikit-learn</a:t>
              </a: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— ML algorithms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XGBoost</a:t>
              </a: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— gradient boosting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pandas, NumPy</a:t>
              </a: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— data handling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matplotlib, seaborn</a:t>
              </a: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— visualizations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Char char="●"/>
              </a:pPr>
              <a:r>
                <a:rPr b="1"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Jupyter Notebook</a:t>
              </a:r>
              <a:r>
                <a:rPr lang="en" sz="1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— experimentation</a:t>
              </a:r>
              <a:endParaRPr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6"/>
            <p:cNvSpPr/>
            <p:nvPr/>
          </p:nvSpPr>
          <p:spPr>
            <a:xfrm>
              <a:off x="4667250" y="3048000"/>
              <a:ext cx="4000500" cy="1714500"/>
            </a:xfrm>
            <a:prstGeom prst="roundRect">
              <a:avLst>
                <a:gd fmla="val 8333" name="adj"/>
              </a:avLst>
            </a:prstGeom>
            <a:solidFill>
              <a:srgbClr val="EFF6FF"/>
            </a:solidFill>
            <a:ln cap="flat" cmpd="sng" w="9525">
              <a:solidFill>
                <a:srgbClr val="1A2A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6"/>
            <p:cNvSpPr txBox="1"/>
            <p:nvPr/>
          </p:nvSpPr>
          <p:spPr>
            <a:xfrm>
              <a:off x="4857750" y="3190875"/>
              <a:ext cx="3619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A4A"/>
                  </a:solidFill>
                  <a:latin typeface="Calibri"/>
                  <a:ea typeface="Calibri"/>
                  <a:cs typeface="Calibri"/>
                  <a:sym typeface="Calibri"/>
                </a:rPr>
                <a:t>Key References</a:t>
              </a:r>
              <a:endParaRPr b="1" sz="14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Tavallaee et al. (2009) — Analysis of KDD CUP 99</a:t>
              </a:r>
              <a:endParaRPr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Ahmad et al. (2021) — Network intrusion detection</a:t>
              </a:r>
              <a:endParaRPr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Dhanabal &amp; Shantharajah (2015) — NSL-KDD for IDS</a:t>
              </a:r>
              <a:endParaRPr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Ingre &amp; Yadav (2015) — Performance using ANN</a:t>
              </a:r>
              <a:endParaRPr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36"/>
          <p:cNvSpPr txBox="1"/>
          <p:nvPr/>
        </p:nvSpPr>
        <p:spPr>
          <a:xfrm>
            <a:off x="476250" y="285750"/>
            <a:ext cx="8191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2A4A"/>
                </a:solidFill>
                <a:latin typeface="Calibri"/>
                <a:ea typeface="Calibri"/>
                <a:cs typeface="Calibri"/>
                <a:sym typeface="Calibri"/>
              </a:rPr>
              <a:t>Project Timeline &amp; Technical Stack</a:t>
            </a:r>
            <a:endParaRPr b="1" sz="2800">
              <a:solidFill>
                <a:srgbClr val="1A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0" y="4905375"/>
            <a:ext cx="9144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Thank You — Questions?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