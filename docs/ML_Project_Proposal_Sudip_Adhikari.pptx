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A2A4A"/>
                </a:solidFill>
                <a:latin typeface="Calibri"/>
              </a:defRPr>
            </a:pPr>
            <a:r>
              <a:t>A Comparative Study of Classical Machine Learning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3800" b="1">
                <a:solidFill>
                  <a:srgbClr val="1A2A4A"/>
                </a:solidFill>
                <a:latin typeface="Calibri"/>
              </a:defRPr>
            </a:pPr>
            <a:r>
              <a:t>Algorithms for Multi-Class Network Intrusion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898A"/>
                </a:solidFill>
                <a:latin typeface="Calibri"/>
              </a:defRPr>
            </a:pPr>
            <a:r>
              <a:t>Using the NSL-KDD Benchmark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2A4A"/>
                </a:solidFill>
                <a:latin typeface="Calibri"/>
              </a:defRPr>
            </a:pPr>
            <a:r>
              <a:t>Sudip Adhikari (250578)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  <a:defRPr sz="1700" b="0">
                <a:solidFill>
                  <a:srgbClr val="475569"/>
                </a:solidFill>
                <a:latin typeface="Calibri"/>
              </a:defRPr>
            </a:pPr>
            <a:r>
              <a:t>M.Sc. Computer Engineering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475569"/>
                </a:solidFill>
                <a:latin typeface="Calibri"/>
              </a:defRPr>
            </a:pPr>
            <a:r>
              <a:t>Softwarica College of IT &amp; E-Commerce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in collaboration with Coventry University</a:t>
            </a:r>
          </a:p>
          <a:p>
            <a:pPr algn="ctr">
              <a:spcBef>
                <a:spcPts val="20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Machine Learning  |  Project Proposal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4A"/>
                </a:solidFill>
                <a:latin typeface="Calibri"/>
              </a:defRPr>
            </a:pPr>
            <a:r>
              <a:t>Why Network Intrusion Detection?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98A"/>
                </a:solidFill>
                <a:latin typeface="Calibri"/>
              </a:defRPr>
            </a:pPr>
            <a:r>
              <a:t>The Problem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Cyberattacks are growing fast globally and in Nepal — most organizations still rely on basic signature-based firewalls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Traditional Intrusion Detection Systems (IDS) use predefined rules — they catch known attacks but completely miss new or modified ones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We need systems that can learn patterns from network traffic and flag suspicious activity automatically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Most existing studies test only 1-2 algorithms — there is no clear picture of which classical ML approach works best across different attack types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A4A"/>
                </a:solidFill>
                <a:latin typeface="Calibri"/>
              </a:defRPr>
            </a:pPr>
            <a:r>
              <a:t>Why I Picked This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NSL-KDD dataset is a gold-standard benchmark — publicly available, well-documented, no data collection headaches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Cybersecurity + ML is a growing intersection with real-world demand, both in industry and research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project is scoped right — not a weekend homework, but not an impossible research task either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Nobody else in the class picked a cybersecurity topic — this gives a different perspective from the agriculture and IoT projects most people are doing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4A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898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4A"/>
                </a:solidFill>
                <a:latin typeface="Calibri"/>
              </a:defRPr>
            </a:pPr>
            <a:r>
              <a:t>Compare 6 Classical ML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Train and evaluate Logistic Regression, KNN, Decision Tree, Random Forest, SVM, and XGBoost on the same dataset under identical conditions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20640" cy="2103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35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00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4A"/>
                </a:solidFill>
                <a:latin typeface="Calibri"/>
              </a:defRPr>
            </a:pPr>
            <a:r>
              <a:t>Multi-Class Attack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Classify network traffic into 5 categories: Normal, DoS, Probe, R2L, and U2R — not just binary normal-vs-attack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09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9F1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69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4A"/>
                </a:solidFill>
                <a:latin typeface="Calibri"/>
              </a:defRPr>
            </a:pPr>
            <a:r>
              <a:t>Handle Class Imbalance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R2L and U2R attacks make up less than 2% of the data — explore techniques like SMOTE and class weighting to deal with this realistically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120640" cy="2103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A4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690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A4A"/>
                </a:solidFill>
                <a:latin typeface="Calibri"/>
              </a:defRPr>
            </a:pPr>
            <a:r>
              <a:t>Proper Evaluation Beyond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63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Use precision, recall, F1-score, confusion matrices, and ROC-AUC — because accuracy alone is misleading when classes are imbalanced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4A"/>
                </a:solidFill>
                <a:latin typeface="Calibri"/>
              </a:defRPr>
            </a:pPr>
            <a:r>
              <a:t>The Dataset — NSL-KDD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7432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98A"/>
                </a:solidFill>
                <a:latin typeface="Calibri"/>
              </a:defRPr>
            </a:pPr>
            <a:r>
              <a:t>What is NSL-KDD?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Most widely used benchmark for network intrusion detection research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Improved version of KDD Cup 1999 — removes duplicate records that used to bias results in older studies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Publicly available from the Canadian Institute for Cybersecurity — no access barriers, no data collection needed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41 features covering protocol type, service, flag, duration, bytes transferred, error rates, and more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2286000" cy="11887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898A"/>
                </a:solidFill>
                <a:latin typeface="Calibri"/>
              </a:defRPr>
            </a:pPr>
            <a:r>
              <a:t>125,973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Training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371600"/>
            <a:ext cx="2286000" cy="11887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5087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6352"/>
                </a:solidFill>
                <a:latin typeface="Calibri"/>
              </a:defRPr>
            </a:pPr>
            <a:r>
              <a:t>22,544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011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Test Samples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88920"/>
            <a:ext cx="2286000" cy="11887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09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9F1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29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788920"/>
            <a:ext cx="2286000" cy="11887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926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A4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429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607040" cy="19202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52628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352"/>
                </a:solidFill>
                <a:latin typeface="Calibri"/>
              </a:defRPr>
            </a:pPr>
            <a:r>
              <a:t>Class Distribution (the challenge)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500" b="1">
                <a:solidFill>
                  <a:srgbClr val="1A2A4A"/>
                </a:solidFill>
                <a:latin typeface="Calibri"/>
              </a:defRPr>
            </a:pPr>
            <a:r>
              <a:t>Normal: ~53%    |    DoS: ~36%    |    Probe: ~9%    |    R2L: ~1.7%    |    U2R: ~0.04%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R2L and U2R are extremely rare — this is realistic (rare attacks are rare in real life too) but makes classification much harder. Any model that just predicts 'Normal' for everything would still get ~53% accuracy. That is why we need proper metrics beyond just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4A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60320" cy="2926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898A"/>
                </a:solidFill>
                <a:latin typeface="Calibri"/>
              </a:defRPr>
            </a:pPr>
            <a:r>
              <a:t>1. Data</a:t>
            </a:r>
            <a:br/>
            <a:r>
              <a:t>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Encode categorical</a:t>
            </a:r>
            <a:br/>
            <a:r>
              <a:t>features, normalize</a:t>
            </a:r>
            <a:br/>
            <a:r>
              <a:t>numerical values,</a:t>
            </a:r>
            <a:br/>
            <a:r>
              <a:t>handle imbalance</a:t>
            </a:r>
            <a:br/>
            <a:r>
              <a:t>(SMOTE)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71600"/>
            <a:ext cx="2560320" cy="29260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5544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86352"/>
                </a:solidFill>
                <a:latin typeface="Calibri"/>
              </a:defRPr>
            </a:pPr>
            <a:r>
              <a:t>2. Feature</a:t>
            </a:r>
            <a:br/>
            <a: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Analyze feature</a:t>
            </a:r>
            <a:br/>
            <a:r>
              <a:t>correlations, remove</a:t>
            </a:r>
            <a:br/>
            <a:r>
              <a:t>redundant features,</a:t>
            </a:r>
            <a:br/>
            <a:r>
              <a:t>select most</a:t>
            </a:r>
            <a:br/>
            <a:r>
              <a:t>informative 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2560320" cy="2926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09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09F1F"/>
                </a:solidFill>
                <a:latin typeface="Calibri"/>
              </a:defRPr>
            </a:pPr>
            <a:r>
              <a:t>3. Model</a:t>
            </a:r>
            <a:br/>
            <a:r>
              <a:t>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Train 6 algorithms:</a:t>
            </a:r>
            <a:br/>
            <a:r>
              <a:t>LR, KNN, DT, RF,</a:t>
            </a:r>
            <a:br/>
            <a:r>
              <a:t>SVM, XGBoost</a:t>
            </a:r>
            <a:br/>
            <a:r>
              <a:t>using 10-fold</a:t>
            </a:r>
            <a:br/>
            <a:r>
              <a:t>cross-validation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371600"/>
            <a:ext cx="2560320" cy="2926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5544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A2A4A"/>
                </a:solidFill>
                <a:latin typeface="Calibri"/>
              </a:defRPr>
            </a:pPr>
            <a:r>
              <a:t>4. Evaluation</a:t>
            </a:r>
            <a:br/>
            <a:r>
              <a:t>&amp;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4688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Calibri"/>
              </a:defRPr>
            </a:pPr>
            <a:r>
              <a:t>Confusion matrices,</a:t>
            </a:r>
            <a:br/>
            <a:r>
              <a:t>per-class P/R/F1,</a:t>
            </a:r>
            <a:br/>
            <a:r>
              <a:t>ROC-AUC curves,</a:t>
            </a:r>
            <a:br/>
            <a:r>
              <a:t>feature importance</a:t>
            </a:r>
            <a:br/>
            <a:r>
              <a:t>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748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607040" cy="16459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98A"/>
                </a:solidFill>
                <a:latin typeface="Calibri"/>
              </a:defRPr>
            </a:pPr>
            <a:r>
              <a:t>Algorithms Being Compared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Logistic Regression (Linear baseline)    |    K-Nearest Neighbors (Distance-based)    |    Decision Tree (Rule-based, interpretable)    |    Random Forest (Ensemble of trees)    |    SVM (Margin-based classifier)    |    XGBoost (Gradient boosting)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4A"/>
                </a:solidFill>
                <a:latin typeface="Calibri"/>
              </a:defRPr>
            </a:pPr>
            <a: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583680" cy="36576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A4A"/>
                </a:solidFill>
                <a:latin typeface="Calibri"/>
              </a:defRPr>
            </a:pPr>
            <a:r>
              <a:t>What I Expect to Find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Tree-based models (Random Forest, XGBoost) will likely perform best overall — this is consistent with existing literature on NSL-KDD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real interesting part is how each model handles rare classes (R2L, U2R) — some models might have good overall accuracy but completely fail on these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Simpler models like Logistic Regression may do well on binary detection (normal vs attack) but struggle with 5-class classification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Feature importance analysis will reveal which network traffic features are most useful for detecting intrusions — this has practical value for network security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71600"/>
            <a:ext cx="3840480" cy="36576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98A"/>
                </a:solidFill>
                <a:latin typeface="Calibri"/>
              </a:defRPr>
            </a:pPr>
            <a:r>
              <a:t>Deliverables</a:t>
            </a:r>
          </a:p>
          <a:p>
            <a:pPr>
              <a:spcBef>
                <a:spcPts val="1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Complete Python codebase (reproducible)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Model comparison tables and charts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Per-class evaluation with confusion matrices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Feature importance rankings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Final report with analysis and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Note: These are hypotheses based on existing literature — the whole point of this project is to verify these with proper experiments and present honest findings, whether they match expectations or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A4A"/>
                </a:solidFill>
                <a:latin typeface="Calibri"/>
              </a:defRPr>
            </a:pPr>
            <a:r>
              <a:t>Timeline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45720"/>
          </a:xfrm>
          <a:prstGeom prst="rect">
            <a:avLst/>
          </a:prstGeom>
          <a:solidFill>
            <a:srgbClr val="008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011680" cy="21945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98A"/>
                </a:solidFill>
                <a:latin typeface="Calibri"/>
              </a:defRPr>
            </a:pPr>
            <a:r>
              <a:t>Day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Data loading, EDA,</a:t>
            </a:r>
            <a:br/>
            <a:r>
              <a:t>preprocessing,</a:t>
            </a:r>
            <a:br/>
            <a:r>
              <a:t>feature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011680" cy="2194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86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6352"/>
                </a:solidFill>
                <a:latin typeface="Calibri"/>
              </a:defRPr>
            </a:pPr>
            <a:r>
              <a:t>Day 3-5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574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Train all 6 models:</a:t>
            </a:r>
            <a:br/>
            <a:r>
              <a:t>LR, KNN, DT, RF,</a:t>
            </a:r>
            <a:br/>
            <a:r>
              <a:t>SVM, XGBoost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2011680" cy="2194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E09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9F1F"/>
                </a:solidFill>
                <a:latin typeface="Calibri"/>
              </a:defRPr>
            </a:pPr>
            <a:r>
              <a:t>Day 6-8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0574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Evaluation, tuning,</a:t>
            </a:r>
            <a:br/>
            <a:r>
              <a:t>confusion matrices,</a:t>
            </a:r>
            <a:br/>
            <a:r>
              <a:t>ROC curves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2011680" cy="2194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2A4A"/>
                </a:solidFill>
                <a:latin typeface="Calibri"/>
              </a:defRPr>
            </a:pPr>
            <a:r>
              <a:t>Day 9-11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0574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Feature importance,</a:t>
            </a:r>
            <a:br/>
            <a:r>
              <a:t>comparison analysis,</a:t>
            </a:r>
            <a:br/>
            <a:r>
              <a:t>visualizations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371600"/>
            <a:ext cx="2011680" cy="21945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089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508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98A"/>
                </a:solidFill>
                <a:latin typeface="Calibri"/>
              </a:defRPr>
            </a:pPr>
            <a:r>
              <a:t>Day 12-14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05740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Report writing,</a:t>
            </a:r>
            <a:br/>
            <a:r>
              <a:t>final presentation,</a:t>
            </a:r>
            <a:br/>
            <a:r>
              <a:t>cleanup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57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98A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794760"/>
            <a:ext cx="36576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657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352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794760"/>
            <a:ext cx="54864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5120640" cy="2377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5196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98A"/>
                </a:solidFill>
                <a:latin typeface="Calibri"/>
              </a:defRPr>
            </a:pPr>
            <a:r>
              <a:t>Tools &amp; Libraries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Python 3.x — primary language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scikit-learn — ML algorithms &amp; evaluation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XGBoost — gradient boosting implementation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pandas, NumPy — data handling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matplotlib, seaborn — visualizations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Jupyter Notebook — experimentation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14800"/>
            <a:ext cx="5120640" cy="2377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5196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A4A"/>
                </a:solidFill>
                <a:latin typeface="Calibri"/>
              </a:defRPr>
            </a:pPr>
            <a:r>
              <a:t>Key References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Tavallaee et al. (2009) — A detailed analysis of the KDD CUP 99 dataset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Ahmad et al. (2021) — Network intrusion detection using ML: A comparative study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Dhanabal &amp; Shantharajah (2015) — A study on NSL-KDD dataset for IDS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Ingre &amp; Yadav (2015) — Performance analysis of NSL-KDD using ANN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922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Thank You  —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